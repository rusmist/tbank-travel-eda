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4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51" y="4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296CF-BFBD-48FB-B7FC-812E386CA1BD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37957-3951-4A4D-806A-1A82B11A9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04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0FFD59-45B0-40FD-9B94-4181BBA0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EB84E2-4364-4DF4-9907-35E882CE5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D4FAB-6CB4-4622-9582-09CC6A2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DDA83B-E412-4C32-A3AC-52E12CF4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0B91EA-9998-4D20-9F18-073F8EB5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13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4E293-2319-4FC0-9275-01368724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A09E3A-41BC-4EF6-8D4C-64B483450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888909-079B-48BF-BDBC-E6E8D24F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86F90-3E7E-43F7-8D62-B1C5466A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3C336-C7B8-4511-837A-943B5F9F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50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2EE6D-5390-4021-9B97-C5B310E2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6D9C68-91DF-4520-8403-8AB3815F9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DA1BD-044E-48B3-B4BB-CB3FA2DE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5996A4-FAD6-49C8-9E5D-8A20645A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97B139-94F2-4AA5-A8CC-D90EAC39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70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1478C-3351-449A-960D-2C635386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027C5A-B213-4981-B8D4-E2FED1948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F0019-9FCC-4602-97E5-065CEA4D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811BAE-B724-4845-9451-F63922F7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CE8F69-2C89-4BB7-8FD9-96593221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857DD8-ABC5-43D6-A3CF-517BDB7E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37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9D4FB-F504-4352-A949-6FC0DFF3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C3DF52-897E-40D5-A3FC-9A834C4B6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BFB54C-4E91-448D-8A47-77B337440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D6E739-318C-434D-88AD-DF635B9F7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BC7E3C-473C-4131-8BAB-D01FCD74D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C1EBFB-F6DF-434D-9F5C-138C63FD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8F049D-F805-464A-ACDB-8595C106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C964E9-C1A2-42DC-B185-3FF4765E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57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B179C-F93A-4477-B3D4-58E97B33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76FB14-EBD7-4211-B54D-076A4BC42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6506AA-EA3A-4E0D-8253-1D973327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D6E359-DC9E-48F0-BAB2-22E8606B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91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B307DA-0573-478E-9C6F-DD025964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9E9C88-B7A4-493F-93F8-B79DE1DE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469B16-F937-4748-86ED-34FA7DB1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04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DAEE4-7ECE-4966-824D-C8FCABD4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12BB89-BCCB-45F0-A260-68A16842B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6F7981-3F2E-4D5A-B57C-4F705ED3F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5E5670-5407-45CA-834D-3A261FB9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93E08-8977-41AC-9574-22E906BE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9A8859-4BAA-4445-803C-61304A33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7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35CAA-2C01-450B-ACDD-A1FA3FE2B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0676DE-A140-4631-8A84-C1E5BAE3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B16332-6AC0-4164-ACF0-60EA9B04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EDE628-E037-44C9-8D3C-82F0F69D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83EBAB-0140-4E38-A077-41E1DFB1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D4D96A-D22F-4771-9157-CCC99D5E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94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100E4-0847-4F2E-911E-7FE8F4C6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8762B8-EF29-43E9-BCF4-8B14BFBFA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0DB6C3-EC4A-4892-9578-2D9D6AE0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F878AD-8163-4E23-95DA-CE735CD4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960E78-9CA8-4E9F-8977-D4EC914E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06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2A75DC-1707-422B-A3A8-4A0313DB7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145665-E7B5-466B-AD16-27A0201BB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815B9-E9AC-4FFE-AEDB-1B4F1971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408C1-DEE9-4794-98D8-15D45598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83066C-DB93-4A13-9DD0-0FCC9B6A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77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56AA4-733F-4713-B21B-C1D0C333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BF22A2-46B9-41D1-AD6E-1F07D1CD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09EA05-2A9D-4600-9420-D2576C8D7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71BA7-6767-4E2B-8B97-918065DDEC8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BEBBEF-CD6E-4807-A9DD-F3600FC4E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F3F94-885B-4E03-9B35-CCC0599AE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70162-59C3-4907-AEAD-4D4E4D7D00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28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onomy.gov.ru/material/directions/turizm/turizm_v_rossii_itogi_2024_goda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FB708-92A0-46D2-96ED-CA7DA5339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dirty="0" err="1">
                <a:latin typeface="Arial Black" panose="020B0A04020102020204" pitchFamily="34" charset="0"/>
                <a:cs typeface="Arial" panose="020B0604020202020204" pitchFamily="34" charset="0"/>
              </a:rPr>
              <a:t>TBank</a:t>
            </a:r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 Travel EDA отели и авиабилеты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326785-79B9-43A6-9FEB-EA92DE7FD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5341" y="3949981"/>
            <a:ext cx="4066622" cy="474416"/>
          </a:xfrm>
        </p:spPr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 err="1"/>
              <a:t>Хатуль</a:t>
            </a:r>
            <a:r>
              <a:rPr lang="ru-RU" dirty="0"/>
              <a:t> Пётр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304228E-9558-4F17-A8C1-D9051D49630E}"/>
              </a:ext>
            </a:extLst>
          </p:cNvPr>
          <p:cNvSpPr txBox="1">
            <a:spLocks/>
          </p:cNvSpPr>
          <p:nvPr/>
        </p:nvSpPr>
        <p:spPr>
          <a:xfrm>
            <a:off x="3794359" y="5813247"/>
            <a:ext cx="4066622" cy="1122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Москва</a:t>
            </a:r>
            <a:r>
              <a:rPr lang="en-US" dirty="0"/>
              <a:t> </a:t>
            </a:r>
          </a:p>
          <a:p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11380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Клиенты и структура заказов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80C9441-3FB2-4679-A8C8-26747BC40D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9754" y="1407327"/>
            <a:ext cx="4478491" cy="40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2188BF1-A7F6-4F11-AC2A-06B81226EA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43631" y="1407327"/>
            <a:ext cx="4638737" cy="40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927563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В выборке около </a:t>
            </a:r>
            <a:r>
              <a:rPr lang="ru-RU" b="1" dirty="0">
                <a:solidFill>
                  <a:schemeClr val="tx1"/>
                </a:solidFill>
              </a:rPr>
              <a:t>760 тысяч успешных заказов</a:t>
            </a:r>
            <a:r>
              <a:rPr lang="ru-RU" dirty="0">
                <a:solidFill>
                  <a:schemeClr val="tx1"/>
                </a:solidFill>
              </a:rPr>
              <a:t>. </a:t>
            </a:r>
            <a:r>
              <a:rPr lang="ru-RU" b="1" dirty="0">
                <a:solidFill>
                  <a:schemeClr val="tx1"/>
                </a:solidFill>
              </a:rPr>
              <a:t>Основной продукт </a:t>
            </a:r>
            <a:r>
              <a:rPr lang="ru-RU" dirty="0">
                <a:solidFill>
                  <a:schemeClr val="tx1"/>
                </a:solidFill>
              </a:rPr>
              <a:t>сервиса </a:t>
            </a:r>
            <a:r>
              <a:rPr lang="ru-RU" b="1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авиабилеты</a:t>
            </a:r>
            <a:r>
              <a:rPr lang="ru-RU" dirty="0">
                <a:solidFill>
                  <a:schemeClr val="tx1"/>
                </a:solidFill>
              </a:rPr>
              <a:t>: на них приходится примерно 78% успешных заказов, на отели – около 22%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93D255-51FB-4B19-A497-B043EE517722}"/>
              </a:ext>
            </a:extLst>
          </p:cNvPr>
          <p:cNvSpPr/>
          <p:nvPr/>
        </p:nvSpPr>
        <p:spPr>
          <a:xfrm>
            <a:off x="6261562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Из </a:t>
            </a:r>
            <a:r>
              <a:rPr lang="ru-RU" b="1" dirty="0">
                <a:solidFill>
                  <a:schemeClr val="tx1"/>
                </a:solidFill>
              </a:rPr>
              <a:t>148 тысяч клиентов </a:t>
            </a:r>
            <a:r>
              <a:rPr lang="ru-RU" dirty="0">
                <a:solidFill>
                  <a:schemeClr val="tx1"/>
                </a:solidFill>
              </a:rPr>
              <a:t>около 33% не совершили ни одного заказа, 35% купили только авиабилеты, 8% – только отели, 23% – оба типа.</a:t>
            </a:r>
          </a:p>
        </p:txBody>
      </p:sp>
    </p:spTree>
    <p:extLst>
      <p:ext uri="{BB962C8B-B14F-4D97-AF65-F5344CB8AC3E}">
        <p14:creationId xmlns:p14="http://schemas.microsoft.com/office/powerpoint/2010/main" val="77310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Еженедельная динамика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80C9441-3FB2-4679-A8C8-26747BC40D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8200" y="1446750"/>
            <a:ext cx="5181599" cy="361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2188BF1-A7F6-4F11-AC2A-06B81226EA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42953" y="1628765"/>
            <a:ext cx="4884428" cy="343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927563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Заметны </a:t>
            </a:r>
            <a:r>
              <a:rPr lang="ru-RU" b="1" dirty="0">
                <a:solidFill>
                  <a:schemeClr val="tx1"/>
                </a:solidFill>
              </a:rPr>
              <a:t>еженедельные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колебания спроса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особенно отчётливо наблюдаемые для авиабилетов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93D255-51FB-4B19-A497-B043EE517722}"/>
              </a:ext>
            </a:extLst>
          </p:cNvPr>
          <p:cNvSpPr/>
          <p:nvPr/>
        </p:nvSpPr>
        <p:spPr>
          <a:xfrm>
            <a:off x="6261562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Анализ количества заказов по дням недели за все месяцы 2024 года показал наличие </a:t>
            </a:r>
            <a:r>
              <a:rPr lang="ru-RU" b="1" dirty="0">
                <a:solidFill>
                  <a:schemeClr val="tx1"/>
                </a:solidFill>
              </a:rPr>
              <a:t>плато высокого спроса </a:t>
            </a:r>
            <a:r>
              <a:rPr lang="ru-RU" dirty="0">
                <a:solidFill>
                  <a:schemeClr val="tx1"/>
                </a:solidFill>
              </a:rPr>
              <a:t>с </a:t>
            </a:r>
            <a:r>
              <a:rPr lang="ru-RU" b="1" dirty="0">
                <a:solidFill>
                  <a:schemeClr val="tx1"/>
                </a:solidFill>
              </a:rPr>
              <a:t>пиком</a:t>
            </a:r>
            <a:r>
              <a:rPr lang="ru-RU" dirty="0">
                <a:solidFill>
                  <a:schemeClr val="tx1"/>
                </a:solidFill>
              </a:rPr>
              <a:t> во </a:t>
            </a:r>
            <a:r>
              <a:rPr lang="ru-RU" b="1" dirty="0">
                <a:solidFill>
                  <a:schemeClr val="tx1"/>
                </a:solidFill>
              </a:rPr>
              <a:t>вторник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61FE3-0B55-4CE8-B570-2DB155700F72}"/>
              </a:ext>
            </a:extLst>
          </p:cNvPr>
          <p:cNvSpPr txBox="1"/>
          <p:nvPr/>
        </p:nvSpPr>
        <p:spPr>
          <a:xfrm>
            <a:off x="838200" y="6379618"/>
            <a:ext cx="940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*</a:t>
            </a:r>
            <a:r>
              <a:rPr lang="ru-RU" dirty="0">
                <a:solidFill>
                  <a:schemeClr val="tx1"/>
                </a:solidFill>
              </a:rPr>
              <a:t>Бр</a:t>
            </a:r>
            <a:r>
              <a:rPr lang="ru-RU" dirty="0"/>
              <a:t>онирование в остальные месяцы</a:t>
            </a:r>
            <a:r>
              <a:rPr lang="en-US" dirty="0"/>
              <a:t> 2024 </a:t>
            </a:r>
            <a:r>
              <a:rPr lang="ru-RU" dirty="0"/>
              <a:t>года аналогично</a:t>
            </a:r>
          </a:p>
        </p:txBody>
      </p:sp>
    </p:spTree>
    <p:extLst>
      <p:ext uri="{BB962C8B-B14F-4D97-AF65-F5344CB8AC3E}">
        <p14:creationId xmlns:p14="http://schemas.microsoft.com/office/powerpoint/2010/main" val="158989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Распределение стоимости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80C9441-3FB2-4679-A8C8-26747BC40D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7562" y="1486174"/>
            <a:ext cx="5002876" cy="361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2188BF1-A7F6-4F11-AC2A-06B81226EA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56465" y="1407327"/>
            <a:ext cx="4804757" cy="40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927563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b="1" dirty="0">
                <a:solidFill>
                  <a:schemeClr val="tx1"/>
                </a:solidFill>
              </a:rPr>
              <a:t>У авиабилетов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разброс</a:t>
            </a:r>
            <a:r>
              <a:rPr lang="ru-RU" dirty="0">
                <a:solidFill>
                  <a:schemeClr val="tx1"/>
                </a:solidFill>
              </a:rPr>
              <a:t> по стоимости </a:t>
            </a:r>
            <a:r>
              <a:rPr lang="ru-RU" b="1" dirty="0">
                <a:solidFill>
                  <a:schemeClr val="tx1"/>
                </a:solidFill>
              </a:rPr>
              <a:t>шире</a:t>
            </a:r>
            <a:r>
              <a:rPr lang="ru-RU" dirty="0">
                <a:solidFill>
                  <a:schemeClr val="tx1"/>
                </a:solidFill>
              </a:rPr>
              <a:t> и средняя </a:t>
            </a:r>
            <a:r>
              <a:rPr lang="ru-RU" b="1" dirty="0">
                <a:solidFill>
                  <a:schemeClr val="tx1"/>
                </a:solidFill>
              </a:rPr>
              <a:t>стоимость выше</a:t>
            </a:r>
            <a:r>
              <a:rPr lang="ru-RU" dirty="0">
                <a:solidFill>
                  <a:schemeClr val="tx1"/>
                </a:solidFill>
              </a:rPr>
              <a:t>, чем у отелей, при этом оба продукта имеют длинные правые «хвосты» дорогих заказов.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93D255-51FB-4B19-A497-B043EE517722}"/>
              </a:ext>
            </a:extLst>
          </p:cNvPr>
          <p:cNvSpPr/>
          <p:nvPr/>
        </p:nvSpPr>
        <p:spPr>
          <a:xfrm>
            <a:off x="6261562" y="5101244"/>
            <a:ext cx="5002876" cy="11693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Всего </a:t>
            </a:r>
            <a:r>
              <a:rPr lang="ru-RU" b="1" dirty="0">
                <a:solidFill>
                  <a:schemeClr val="tx1"/>
                </a:solidFill>
              </a:rPr>
              <a:t>1% самых дорогих </a:t>
            </a:r>
            <a:r>
              <a:rPr lang="ru-RU" dirty="0">
                <a:solidFill>
                  <a:schemeClr val="tx1"/>
                </a:solidFill>
              </a:rPr>
              <a:t>заказов формирует около </a:t>
            </a:r>
            <a:r>
              <a:rPr lang="ru-RU" b="1" dirty="0">
                <a:solidFill>
                  <a:schemeClr val="tx1"/>
                </a:solidFill>
              </a:rPr>
              <a:t>11,6% общей стоимости </a:t>
            </a:r>
            <a:r>
              <a:rPr lang="ru-RU" dirty="0">
                <a:solidFill>
                  <a:schemeClr val="tx1"/>
                </a:solidFill>
              </a:rPr>
              <a:t>заказов по Отелям и Авиабилетам, тогда как </a:t>
            </a:r>
            <a:r>
              <a:rPr lang="ru-RU" b="1" dirty="0">
                <a:solidFill>
                  <a:schemeClr val="tx1"/>
                </a:solidFill>
              </a:rPr>
              <a:t>оставшиеся 99%</a:t>
            </a:r>
            <a:r>
              <a:rPr lang="ru-RU" dirty="0">
                <a:solidFill>
                  <a:schemeClr val="tx1"/>
                </a:solidFill>
              </a:rPr>
              <a:t> заказов дают </a:t>
            </a:r>
            <a:r>
              <a:rPr lang="ru-RU" b="1" dirty="0">
                <a:solidFill>
                  <a:schemeClr val="tx1"/>
                </a:solidFill>
              </a:rPr>
              <a:t>88,4% стоимости</a:t>
            </a:r>
            <a:r>
              <a:rPr lang="ru-RU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4484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Продуктовые гипотезы по результатам EDA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838200" y="1892550"/>
            <a:ext cx="10515600" cy="203105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400"/>
              </a:spcAft>
            </a:pPr>
            <a:r>
              <a:rPr lang="ru-RU" sz="2000" b="1" dirty="0">
                <a:solidFill>
                  <a:schemeClr val="tx1"/>
                </a:solidFill>
              </a:rPr>
              <a:t>Оптимальное время промо</a:t>
            </a:r>
          </a:p>
          <a:p>
            <a:pPr algn="just">
              <a:spcAft>
                <a:spcPts val="2400"/>
              </a:spcAft>
            </a:pPr>
            <a:r>
              <a:rPr lang="ru-RU" dirty="0">
                <a:solidFill>
                  <a:schemeClr val="tx1"/>
                </a:solidFill>
              </a:rPr>
              <a:t>Максимальная активность клиентов приходится на вторник, в выходные она ниже. Запуск промо-акций в начале недели может дополнительно увеличить число бронирований без заметного снижения среднего чека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66090FF-A923-4DB9-9373-2C2BD7ECF488}"/>
              </a:ext>
            </a:extLst>
          </p:cNvPr>
          <p:cNvSpPr/>
          <p:nvPr/>
        </p:nvSpPr>
        <p:spPr>
          <a:xfrm>
            <a:off x="838200" y="4125470"/>
            <a:ext cx="10515600" cy="203105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400"/>
              </a:spcAft>
            </a:pPr>
            <a:r>
              <a:rPr lang="ru-RU" sz="2000" b="1" dirty="0">
                <a:solidFill>
                  <a:schemeClr val="tx1"/>
                </a:solidFill>
              </a:rPr>
              <a:t>Премиальный сегмент</a:t>
            </a:r>
          </a:p>
          <a:p>
            <a:pPr algn="just">
              <a:spcAft>
                <a:spcPts val="2400"/>
              </a:spcAft>
            </a:pPr>
            <a:r>
              <a:rPr lang="ru-RU" dirty="0">
                <a:solidFill>
                  <a:schemeClr val="tx1"/>
                </a:solidFill>
              </a:rPr>
              <a:t>Около 1% самых дорогих заказов формируют значимую долю оборота – 12%. Эти клиенты образуют премиальный сегмент, которому можно предлагать персональные бонусы и сервис, повышая лояльность и средний чек без массовых скидок.</a:t>
            </a:r>
          </a:p>
        </p:txBody>
      </p:sp>
    </p:spTree>
    <p:extLst>
      <p:ext uri="{BB962C8B-B14F-4D97-AF65-F5344CB8AC3E}">
        <p14:creationId xmlns:p14="http://schemas.microsoft.com/office/powerpoint/2010/main" val="26926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Ключевая продуктовая гипотеза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5514109" y="1668304"/>
            <a:ext cx="5839691" cy="396595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</a:rPr>
              <a:t>Точечная оптимизация </a:t>
            </a:r>
            <a:r>
              <a:rPr lang="ru-RU" dirty="0">
                <a:solidFill>
                  <a:schemeClr val="tx1"/>
                </a:solidFill>
              </a:rPr>
              <a:t>промо-механик для </a:t>
            </a:r>
            <a:r>
              <a:rPr lang="ru-RU" b="1" dirty="0">
                <a:solidFill>
                  <a:schemeClr val="tx1"/>
                </a:solidFill>
              </a:rPr>
              <a:t>топового сегмента </a:t>
            </a:r>
            <a:r>
              <a:rPr lang="ru-RU" dirty="0">
                <a:solidFill>
                  <a:schemeClr val="tx1"/>
                </a:solidFill>
              </a:rPr>
              <a:t>(персональные предложения, дополнительные сервисы) потенциально </a:t>
            </a:r>
            <a:r>
              <a:rPr lang="ru-RU" b="1" dirty="0">
                <a:solidFill>
                  <a:schemeClr val="tx1"/>
                </a:solidFill>
              </a:rPr>
              <a:t>увеличит выручку сильнее</a:t>
            </a:r>
            <a:r>
              <a:rPr lang="ru-RU" dirty="0">
                <a:solidFill>
                  <a:schemeClr val="tx1"/>
                </a:solidFill>
              </a:rPr>
              <a:t>, чем равномерное промо для всей базы заказов, </a:t>
            </a:r>
            <a:r>
              <a:rPr lang="ru-RU" b="1" dirty="0">
                <a:solidFill>
                  <a:schemeClr val="tx1"/>
                </a:solidFill>
              </a:rPr>
              <a:t>при сопоставимых затратах</a:t>
            </a:r>
            <a:r>
              <a:rPr lang="ru-RU" dirty="0">
                <a:solidFill>
                  <a:schemeClr val="tx1"/>
                </a:solidFill>
              </a:rPr>
              <a:t>.    </a:t>
            </a: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Работа с премиальным сегментом </a:t>
            </a:r>
            <a:r>
              <a:rPr lang="ru-RU" b="1" dirty="0">
                <a:solidFill>
                  <a:schemeClr val="tx1"/>
                </a:solidFill>
              </a:rPr>
              <a:t>не требует массовых скидок </a:t>
            </a:r>
            <a:r>
              <a:rPr lang="ru-RU" dirty="0">
                <a:solidFill>
                  <a:schemeClr val="tx1"/>
                </a:solidFill>
              </a:rPr>
              <a:t>и позволяет повышать средний чек и лояльность наиболее ценных клиентов.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2E72F48-2E16-4868-A9AA-1A1FA8846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9352" y="1576648"/>
            <a:ext cx="4804757" cy="40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44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Оценка доли Т-Путешествий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5514109" y="1668304"/>
            <a:ext cx="5839691" cy="396595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Туристической поездкой считается пересечение границы туда и обратно или посещение внутреннего направления как единая поездка.</a:t>
            </a: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</a:rPr>
              <a:t>Всего</a:t>
            </a:r>
            <a:r>
              <a:rPr lang="ru-RU" dirty="0">
                <a:solidFill>
                  <a:schemeClr val="tx1"/>
                </a:solidFill>
              </a:rPr>
              <a:t> поездки граждан России </a:t>
            </a:r>
            <a:r>
              <a:rPr lang="ru-RU" b="1" dirty="0">
                <a:solidFill>
                  <a:schemeClr val="tx1"/>
                </a:solidFill>
              </a:rPr>
              <a:t>по стране </a:t>
            </a:r>
            <a:r>
              <a:rPr lang="ru-RU" dirty="0">
                <a:solidFill>
                  <a:schemeClr val="tx1"/>
                </a:solidFill>
              </a:rPr>
              <a:t>за 2024: </a:t>
            </a:r>
            <a:r>
              <a:rPr lang="ru-RU" b="1" dirty="0">
                <a:solidFill>
                  <a:schemeClr val="tx1"/>
                </a:solidFill>
              </a:rPr>
              <a:t>84,9 млн </a:t>
            </a:r>
            <a:r>
              <a:rPr lang="ru-RU" dirty="0">
                <a:solidFill>
                  <a:schemeClr val="tx1"/>
                </a:solidFill>
              </a:rPr>
              <a:t>поездок </a:t>
            </a:r>
            <a:r>
              <a:rPr lang="en-US" dirty="0">
                <a:solidFill>
                  <a:schemeClr val="tx1"/>
                </a:solidFill>
              </a:rPr>
              <a:t>[1]. </a:t>
            </a:r>
            <a:endParaRPr lang="ru-RU" dirty="0">
              <a:solidFill>
                <a:schemeClr val="tx1"/>
              </a:solidFill>
            </a:endParaRP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В сервисе «</a:t>
            </a:r>
            <a:r>
              <a:rPr lang="ru-RU" b="1" dirty="0">
                <a:solidFill>
                  <a:schemeClr val="tx1"/>
                </a:solidFill>
              </a:rPr>
              <a:t>Т-Путешествия</a:t>
            </a:r>
            <a:r>
              <a:rPr lang="ru-RU" dirty="0">
                <a:solidFill>
                  <a:schemeClr val="tx1"/>
                </a:solidFill>
              </a:rPr>
              <a:t>» за 2024 год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b="1" dirty="0">
                <a:solidFill>
                  <a:schemeClr val="tx1"/>
                </a:solidFill>
              </a:rPr>
              <a:t>0,464 млн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поездок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по схеме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поездки T-Путешествий = бронирования отелей +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ru-RU" dirty="0">
                <a:solidFill>
                  <a:schemeClr val="tx1"/>
                </a:solidFill>
              </a:rPr>
              <a:t>заказы авиабилетов / 2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Тогда </a:t>
            </a:r>
            <a:r>
              <a:rPr lang="ru-RU" b="1" dirty="0">
                <a:solidFill>
                  <a:schemeClr val="tx1"/>
                </a:solidFill>
              </a:rPr>
              <a:t>доля</a:t>
            </a:r>
            <a:r>
              <a:rPr lang="ru-RU" dirty="0">
                <a:solidFill>
                  <a:schemeClr val="tx1"/>
                </a:solidFill>
              </a:rPr>
              <a:t> сервиса «</a:t>
            </a:r>
            <a:r>
              <a:rPr lang="ru-RU" b="1" dirty="0">
                <a:solidFill>
                  <a:schemeClr val="tx1"/>
                </a:solidFill>
              </a:rPr>
              <a:t>Т-Путешествий</a:t>
            </a:r>
            <a:r>
              <a:rPr lang="ru-RU" dirty="0">
                <a:solidFill>
                  <a:schemeClr val="tx1"/>
                </a:solidFill>
              </a:rPr>
              <a:t>» составляет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0,55%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A7996-B477-48A7-ABA7-2009AC89F986}"/>
              </a:ext>
            </a:extLst>
          </p:cNvPr>
          <p:cNvSpPr txBox="1"/>
          <p:nvPr/>
        </p:nvSpPr>
        <p:spPr>
          <a:xfrm>
            <a:off x="766156" y="6113561"/>
            <a:ext cx="9408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[1] Министерство экономического развития РФ.</a:t>
            </a:r>
            <a:r>
              <a:rPr lang="en-US" dirty="0"/>
              <a:t> </a:t>
            </a:r>
            <a:r>
              <a:rPr lang="ru-RU" dirty="0"/>
              <a:t>«Туризм в России. Итоги 2024 года».</a:t>
            </a:r>
            <a:r>
              <a:rPr lang="en-US" dirty="0"/>
              <a:t> </a:t>
            </a:r>
            <a:r>
              <a:rPr lang="ru-RU" dirty="0"/>
              <a:t>URL:</a:t>
            </a:r>
            <a:r>
              <a:rPr lang="en-US" dirty="0"/>
              <a:t> </a:t>
            </a:r>
            <a:r>
              <a:rPr lang="ru-RU" dirty="0">
                <a:hlinkClick r:id="rId3"/>
              </a:rPr>
              <a:t>https://www.economy.gov.ru/material/directions/turizm/turizm_v_rossii_itogi_2024_goda.html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4EA426-132F-41A0-8E4F-FB2595D72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07736"/>
            <a:ext cx="3388664" cy="40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9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079E92-840F-4D7F-B0ED-85B1303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Приложение по использованию 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466E29-AE34-4D3E-A4C7-66674B7F4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1" t="14343" r="8289"/>
          <a:stretch/>
        </p:blipFill>
        <p:spPr>
          <a:xfrm>
            <a:off x="10435242" y="6262255"/>
            <a:ext cx="1756758" cy="595745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C616F5-096B-40E7-9685-A8B68F2B4691}"/>
              </a:ext>
            </a:extLst>
          </p:cNvPr>
          <p:cNvSpPr/>
          <p:nvPr/>
        </p:nvSpPr>
        <p:spPr>
          <a:xfrm>
            <a:off x="647701" y="1690688"/>
            <a:ext cx="5509259" cy="425243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Aft>
                <a:spcPts val="2400"/>
              </a:spcAft>
            </a:pPr>
            <a:r>
              <a:rPr lang="ru-RU" dirty="0">
                <a:solidFill>
                  <a:schemeClr val="tx1"/>
                </a:solidFill>
              </a:rPr>
              <a:t>В данной работе был использован </a:t>
            </a:r>
            <a:r>
              <a:rPr lang="en-US" dirty="0" err="1">
                <a:solidFill>
                  <a:schemeClr val="tx1"/>
                </a:solidFill>
              </a:rPr>
              <a:t>ChatGPT</a:t>
            </a:r>
            <a:r>
              <a:rPr lang="ru-RU" dirty="0">
                <a:solidFill>
                  <a:schemeClr val="tx1"/>
                </a:solidFill>
              </a:rPr>
              <a:t> для оптимизации рутинных задач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таких как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Генерация фона для заголовочного слайда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Написание коротких сегментов кода точечных улучшений графиков для вставки в презентацию</a:t>
            </a:r>
          </a:p>
          <a:p>
            <a:pPr marL="285750" indent="-28575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Поиск информации в интернете по туризму в России (с обязательной последующей проверкой всех источников и формулировок)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128F4CB-5DC2-44D5-9BAD-DABCE5868E28}"/>
              </a:ext>
            </a:extLst>
          </p:cNvPr>
          <p:cNvSpPr/>
          <p:nvPr/>
        </p:nvSpPr>
        <p:spPr>
          <a:xfrm>
            <a:off x="6347459" y="1690688"/>
            <a:ext cx="5196839" cy="425243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123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473</Words>
  <Application>Microsoft Office PowerPoint</Application>
  <PresentationFormat>Широкоэкранный</PresentationFormat>
  <Paragraphs>33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Тема Office</vt:lpstr>
      <vt:lpstr>TBank Travel EDA отели и авиабилеты</vt:lpstr>
      <vt:lpstr>Клиенты и структура заказов</vt:lpstr>
      <vt:lpstr>Еженедельная динамика</vt:lpstr>
      <vt:lpstr>Распределение стоимости</vt:lpstr>
      <vt:lpstr>Продуктовые гипотезы по результатам EDA</vt:lpstr>
      <vt:lpstr>Ключевая продуктовая гипотеза</vt:lpstr>
      <vt:lpstr>Оценка доли Т-Путешествий</vt:lpstr>
      <vt:lpstr>Приложение по использованию 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Petr</dc:creator>
  <cp:lastModifiedBy>Petr</cp:lastModifiedBy>
  <cp:revision>26</cp:revision>
  <dcterms:created xsi:type="dcterms:W3CDTF">2025-11-13T12:07:06Z</dcterms:created>
  <dcterms:modified xsi:type="dcterms:W3CDTF">2025-11-13T22:39:55Z</dcterms:modified>
</cp:coreProperties>
</file>